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2"/>
    <p:sldId id="273" r:id="rId3"/>
    <p:sldId id="284" r:id="rId4"/>
    <p:sldId id="272" r:id="rId5"/>
    <p:sldId id="290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33"/>
    <p:restoredTop sz="94556"/>
  </p:normalViewPr>
  <p:slideViewPr>
    <p:cSldViewPr snapToGrid="0">
      <p:cViewPr>
        <p:scale>
          <a:sx n="100" d="100"/>
          <a:sy n="100" d="100"/>
        </p:scale>
        <p:origin x="108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8155-2F4A-059F-03E1-564A0DED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23D00-A3A2-2738-D898-35EC4A961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F0095-F28F-D550-8E51-D04130F4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BA1EB-17B2-F9C1-A8AF-ADFD0853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CE554-9F8E-A45B-676E-E85A4B34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8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8133-6E67-11AC-DA5E-1D7917F1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E14DD-2FC6-6C01-ACA9-EC4D0BAE1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7917-120A-A657-B0F0-504CA851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A0EB2-1157-DB87-7678-6F48EFF2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54338-1B86-429E-4EDA-EF0AC112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58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36979-B490-37D7-EE31-DF1C8764C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A8E34-EAB1-F510-70B4-998971F6E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C8DCF-0751-BE06-65E7-0BA0FCC1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98782-3E76-DE4E-1EA0-6DF40116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62427-D941-8F89-3F63-E5B75EED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7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8BAE-81FE-0C14-57C8-1BC8A4C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85A0-3E2F-52AF-7565-366CAF905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4CA9A-63D7-51B9-BD79-259E314B4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AE24C-B1CB-C369-47FE-91A434E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E92B2-0D8F-50BF-3EA3-0A7BAACC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670FC-8F01-D961-AA59-E10911DC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24BF-BA27-63B3-091B-D519A705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BDD36-FEA6-1D0D-5E74-520847CF3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42DDA-6DEE-F8EE-2D39-1D9A37849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D1212-427F-BA63-56DF-C2B174A09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ABD52-D26D-BF86-E481-2FE656E74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46938-CC28-5D48-2C91-25C039A2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A43D0-53EA-F06C-7617-799B9A52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B70DF-B1AB-09A6-F728-A514BAEB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4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E289-00F6-7BDA-90E8-7EC89790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62DED-300A-829A-885F-C6CA9008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99AC5-A89D-4E22-BEE7-C6706DFE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E4884-7C8E-92B6-990D-7B78C95D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92C05-A91B-A4D4-2563-08A33C9B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CB5C1-F3FC-6D84-90B8-046E9698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F7E48-4539-D6F0-B546-B3DBD2AC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9D06D-0B75-C653-D1C3-5D0CEAD6E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2E6FE-410A-27BF-ED4F-CFCDF92F2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5D981-CBAA-33B7-1F64-7861D6821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326F0-0E80-AF65-FDBF-5D0C05C8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4FAA1-AC0B-78A1-FB2F-A040800E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3E68-6140-B6C5-FAE8-811B24B1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6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55F0-27DF-18AF-CA2F-71ED03F4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0D1D2-714D-39F9-7C74-B6CFBF244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E4353-012E-8387-963E-5E0E4AB27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6684B-C843-6EBE-B69C-3EB75A97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49DA2-8607-A034-D343-B774EDE1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5F148-2D12-7F4E-7BF6-BEDCCE9D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9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9BD0-1866-B0D4-6489-E2BC8DB4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FBEB3-6369-14D8-AE93-886690E27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6B275-D8F9-DB5B-4C3C-806A5F9C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793D0-76D3-F69D-4B4F-69B6B42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2623-52DF-1FC2-E491-FDD54FE8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8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5A773-D8A9-C64A-8AEC-3F0F5D575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514C3-8ECA-E805-5497-5E4738441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81311-BF46-94B3-39CE-48F499AF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3C9C-EB9D-D4B0-21EE-CC77376E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D2158-0097-4A3F-A6F6-94FA1013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4A8B5-2263-F014-7927-3C635654A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6878D-5078-F290-B7D1-48E41A776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10975-8829-7BF2-B558-0E9149DF6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B3A24-CC22-2E41-BE70-A89336F6A99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0C31D-E849-146A-53AF-8EA83CF51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FCF8-AA3B-6ED1-7DD9-8BC19B619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A83C5-15AE-5846-8BE9-A343FDFCE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E52D-C70C-F0F9-92F9-AC233787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3A7A0B-6E4B-31AE-E4FE-89313A3F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 Demand Index: </a:t>
            </a:r>
            <a:br>
              <a:rPr lang="en-US" dirty="0"/>
            </a:br>
            <a:r>
              <a:rPr lang="en-US" dirty="0"/>
              <a:t>Charts and Insights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A156FA-3757-1AD7-7EAA-94862F004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78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5FC9-5EF2-8D90-F8F7-F0336913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Term Corn Demand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72EB8-ECB6-6FBD-FE11-938652DEA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2025, the corn market is enjoying a positive demand shock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2025 is the first positive short-term demand shock in 3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positive, the short-term index is not as high as it was in 2020-2021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will be measure and reported monthly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8E830B-94D0-D89E-504C-EFFF293E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007" y="1257300"/>
            <a:ext cx="7107593" cy="422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0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6F04-A14D-A3D7-8A87-FA7E90BE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Corn Demand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1F87C-9C41-2826-A677-0527E6118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Corn demand, in total, is approaching record highs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Corn demand trend upward overtime, but not linearly (stairsteps)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have been three paradigms: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2000 to 2005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2010 to 2019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2020 to 2025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Note: This will be measure and reported monthly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72062-F852-84C9-1410-3864C4DEF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179" y="1283757"/>
            <a:ext cx="7104888" cy="429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9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F431D-111E-58BD-5926-ECB044F3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 Market Tightness Index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BB07F9-41FC-9FCE-D070-422715C3D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68459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Usage is strong, but abundant supplies have weighed on market.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2025, corn tightness index fell to the lowest levels since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implications: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markets since 2020 have benefited from tighter-than-normals markets (usage relative to supplies)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Fewer corn acres in 2026 could increase tightness in 2026, especially if demand (and usage) remain strong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Note: This will be measure and reported monthly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3211C0-8607-FBCB-06BC-D10A1DC6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163" y="1499159"/>
            <a:ext cx="7104888" cy="385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6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53FEF-7D62-2841-1F5A-E2A216C9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A573C2-9026-8985-1CAA-43C102C8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web tool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15EEF5-4E4C-39D4-F9E1-5A1FE1A29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2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FC2E855-5AF9-C43D-98E8-546EC4D118BD}"/>
              </a:ext>
            </a:extLst>
          </p:cNvPr>
          <p:cNvSpPr/>
          <p:nvPr/>
        </p:nvSpPr>
        <p:spPr>
          <a:xfrm>
            <a:off x="6254186" y="258410"/>
            <a:ext cx="2801074" cy="4745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03B82FB-DBAA-6A31-A705-DB76C2B6FFE9}"/>
              </a:ext>
            </a:extLst>
          </p:cNvPr>
          <p:cNvSpPr/>
          <p:nvPr/>
        </p:nvSpPr>
        <p:spPr>
          <a:xfrm>
            <a:off x="3294926" y="266217"/>
            <a:ext cx="2801074" cy="4745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275DD0-41DA-F514-A25A-A859BE55D281}"/>
              </a:ext>
            </a:extLst>
          </p:cNvPr>
          <p:cNvSpPr/>
          <p:nvPr/>
        </p:nvSpPr>
        <p:spPr>
          <a:xfrm>
            <a:off x="335666" y="266217"/>
            <a:ext cx="2801074" cy="4745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AACE81-5A8F-83DA-C94D-7699898DDD9D}"/>
              </a:ext>
            </a:extLst>
          </p:cNvPr>
          <p:cNvSpPr/>
          <p:nvPr/>
        </p:nvSpPr>
        <p:spPr>
          <a:xfrm>
            <a:off x="0" y="636608"/>
            <a:ext cx="12192000" cy="62213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043E0-707B-FE42-0CA4-269860979752}"/>
              </a:ext>
            </a:extLst>
          </p:cNvPr>
          <p:cNvSpPr txBox="1"/>
          <p:nvPr/>
        </p:nvSpPr>
        <p:spPr>
          <a:xfrm>
            <a:off x="567159" y="266217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Corn Price Estimate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A5E2D-5F8B-E047-45A8-70BA30291CCE}"/>
              </a:ext>
            </a:extLst>
          </p:cNvPr>
          <p:cNvSpPr txBox="1"/>
          <p:nvPr/>
        </p:nvSpPr>
        <p:spPr>
          <a:xfrm>
            <a:off x="3526419" y="266217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Scenarios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DCAD7-8D98-8D7E-5E6E-B996F31A7C6B}"/>
              </a:ext>
            </a:extLst>
          </p:cNvPr>
          <p:cNvSpPr/>
          <p:nvPr/>
        </p:nvSpPr>
        <p:spPr>
          <a:xfrm>
            <a:off x="1226917" y="1666755"/>
            <a:ext cx="3819646" cy="7407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014F1-6AC0-C8FA-D67D-4B48D7A5956A}"/>
              </a:ext>
            </a:extLst>
          </p:cNvPr>
          <p:cNvSpPr txBox="1"/>
          <p:nvPr/>
        </p:nvSpPr>
        <p:spPr>
          <a:xfrm>
            <a:off x="1296364" y="1852478"/>
            <a:ext cx="223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Projected Supply: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A4A0E6-8E78-6E83-8E4B-B10F5A3697EE}"/>
              </a:ext>
            </a:extLst>
          </p:cNvPr>
          <p:cNvSpPr txBox="1"/>
          <p:nvPr/>
        </p:nvSpPr>
        <p:spPr>
          <a:xfrm>
            <a:off x="3391382" y="1852478"/>
            <a:ext cx="10258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DE3628-DA66-E4B6-B435-164F08A19613}"/>
              </a:ext>
            </a:extLst>
          </p:cNvPr>
          <p:cNvSpPr txBox="1"/>
          <p:nvPr/>
        </p:nvSpPr>
        <p:spPr>
          <a:xfrm>
            <a:off x="4417191" y="1852478"/>
            <a:ext cx="742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Billion bushels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0E7C36-7705-1B05-253F-726798783103}"/>
              </a:ext>
            </a:extLst>
          </p:cNvPr>
          <p:cNvSpPr/>
          <p:nvPr/>
        </p:nvSpPr>
        <p:spPr>
          <a:xfrm>
            <a:off x="1226917" y="2592730"/>
            <a:ext cx="3819646" cy="7407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C63205-94E7-639B-38F0-92D69F87A670}"/>
              </a:ext>
            </a:extLst>
          </p:cNvPr>
          <p:cNvSpPr txBox="1"/>
          <p:nvPr/>
        </p:nvSpPr>
        <p:spPr>
          <a:xfrm>
            <a:off x="1296364" y="2777925"/>
            <a:ext cx="223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Projected Usage: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86E54C-F557-3510-6875-9B7149FB3151}"/>
              </a:ext>
            </a:extLst>
          </p:cNvPr>
          <p:cNvSpPr txBox="1"/>
          <p:nvPr/>
        </p:nvSpPr>
        <p:spPr>
          <a:xfrm>
            <a:off x="3391382" y="2777925"/>
            <a:ext cx="10258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16.3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54ED3E-86AA-9F0E-8CA4-F1E7F7F80E0C}"/>
              </a:ext>
            </a:extLst>
          </p:cNvPr>
          <p:cNvSpPr txBox="1"/>
          <p:nvPr/>
        </p:nvSpPr>
        <p:spPr>
          <a:xfrm>
            <a:off x="4417191" y="2777925"/>
            <a:ext cx="742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Billion bushels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9BCC51-E426-B2BE-AF7A-94DBF13524D1}"/>
              </a:ext>
            </a:extLst>
          </p:cNvPr>
          <p:cNvSpPr/>
          <p:nvPr/>
        </p:nvSpPr>
        <p:spPr>
          <a:xfrm>
            <a:off x="6072372" y="2067921"/>
            <a:ext cx="2955881" cy="740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03F74E-5BCE-360A-DD2A-C5668A94E29F}"/>
              </a:ext>
            </a:extLst>
          </p:cNvPr>
          <p:cNvSpPr txBox="1"/>
          <p:nvPr/>
        </p:nvSpPr>
        <p:spPr>
          <a:xfrm>
            <a:off x="7259017" y="2253644"/>
            <a:ext cx="26071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Estimated Price: $4.16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FE6351-8C3B-691A-42AE-DCE6E4184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813" y="3488058"/>
            <a:ext cx="4673600" cy="27432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A5E5C9-A04C-E237-E858-96B98CBE3808}"/>
              </a:ext>
            </a:extLst>
          </p:cNvPr>
          <p:cNvCxnSpPr>
            <a:cxnSpLocks/>
          </p:cNvCxnSpPr>
          <p:nvPr/>
        </p:nvCxnSpPr>
        <p:spPr>
          <a:xfrm>
            <a:off x="7014262" y="3970116"/>
            <a:ext cx="0" cy="19561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3B5EFA-D0BF-226A-89B9-5C504546A197}"/>
              </a:ext>
            </a:extLst>
          </p:cNvPr>
          <p:cNvCxnSpPr>
            <a:cxnSpLocks/>
          </p:cNvCxnSpPr>
          <p:nvPr/>
        </p:nvCxnSpPr>
        <p:spPr>
          <a:xfrm>
            <a:off x="6551271" y="5197034"/>
            <a:ext cx="405113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CA4C3E2-1DEB-EC7D-3C72-F0588D40FFF3}"/>
              </a:ext>
            </a:extLst>
          </p:cNvPr>
          <p:cNvSpPr txBox="1"/>
          <p:nvPr/>
        </p:nvSpPr>
        <p:spPr>
          <a:xfrm>
            <a:off x="6543553" y="293619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 of Change</a:t>
            </a:r>
          </a:p>
        </p:txBody>
      </p:sp>
    </p:spTree>
    <p:extLst>
      <p:ext uri="{BB962C8B-B14F-4D97-AF65-F5344CB8AC3E}">
        <p14:creationId xmlns:p14="http://schemas.microsoft.com/office/powerpoint/2010/main" val="420585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89C1-3DF2-D5CB-8367-51B0C6CD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76868CD-B50D-EEE0-1403-701C0E102A4A}"/>
              </a:ext>
            </a:extLst>
          </p:cNvPr>
          <p:cNvSpPr/>
          <p:nvPr/>
        </p:nvSpPr>
        <p:spPr>
          <a:xfrm>
            <a:off x="6254186" y="258410"/>
            <a:ext cx="2801074" cy="4745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376CB8-77CB-7AB4-34A2-32DD80F57265}"/>
              </a:ext>
            </a:extLst>
          </p:cNvPr>
          <p:cNvSpPr/>
          <p:nvPr/>
        </p:nvSpPr>
        <p:spPr>
          <a:xfrm>
            <a:off x="3294926" y="266217"/>
            <a:ext cx="2801074" cy="4745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EBD0B5-DA2B-C73A-9A49-D1792294D01F}"/>
              </a:ext>
            </a:extLst>
          </p:cNvPr>
          <p:cNvSpPr/>
          <p:nvPr/>
        </p:nvSpPr>
        <p:spPr>
          <a:xfrm>
            <a:off x="335666" y="266217"/>
            <a:ext cx="2801074" cy="4745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FC9746-DCE2-1D97-5DA6-6884AA171C52}"/>
              </a:ext>
            </a:extLst>
          </p:cNvPr>
          <p:cNvSpPr/>
          <p:nvPr/>
        </p:nvSpPr>
        <p:spPr>
          <a:xfrm>
            <a:off x="57150" y="667381"/>
            <a:ext cx="12192000" cy="62213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A3F6D-605F-A9E1-B62A-A3606AE8BB62}"/>
              </a:ext>
            </a:extLst>
          </p:cNvPr>
          <p:cNvSpPr txBox="1"/>
          <p:nvPr/>
        </p:nvSpPr>
        <p:spPr>
          <a:xfrm>
            <a:off x="567159" y="266217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Corn Price Estimate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2D573-B6AB-AFF3-B259-BE5D1305AACF}"/>
              </a:ext>
            </a:extLst>
          </p:cNvPr>
          <p:cNvSpPr txBox="1"/>
          <p:nvPr/>
        </p:nvSpPr>
        <p:spPr>
          <a:xfrm>
            <a:off x="3526419" y="266217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Scenarios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FB711-DC8E-4D2B-CC71-16475A57554C}"/>
              </a:ext>
            </a:extLst>
          </p:cNvPr>
          <p:cNvSpPr/>
          <p:nvPr/>
        </p:nvSpPr>
        <p:spPr>
          <a:xfrm>
            <a:off x="1226917" y="1666755"/>
            <a:ext cx="3819646" cy="7407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687A37-3335-CBCF-0A35-308F1744C2AE}"/>
              </a:ext>
            </a:extLst>
          </p:cNvPr>
          <p:cNvSpPr txBox="1"/>
          <p:nvPr/>
        </p:nvSpPr>
        <p:spPr>
          <a:xfrm>
            <a:off x="1296364" y="1852478"/>
            <a:ext cx="223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Projected Supply: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7E9EAC-7AF1-24A0-5CC5-1947B2949FA3}"/>
              </a:ext>
            </a:extLst>
          </p:cNvPr>
          <p:cNvSpPr txBox="1"/>
          <p:nvPr/>
        </p:nvSpPr>
        <p:spPr>
          <a:xfrm>
            <a:off x="3391382" y="1852478"/>
            <a:ext cx="10258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18.3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0638A-B39C-C60B-DB0B-264F4BEC2F10}"/>
              </a:ext>
            </a:extLst>
          </p:cNvPr>
          <p:cNvSpPr txBox="1"/>
          <p:nvPr/>
        </p:nvSpPr>
        <p:spPr>
          <a:xfrm>
            <a:off x="4417191" y="1852478"/>
            <a:ext cx="742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Billion bushels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E4618B-89ED-9A4C-AC29-DA3B5A3D5A4B}"/>
              </a:ext>
            </a:extLst>
          </p:cNvPr>
          <p:cNvSpPr/>
          <p:nvPr/>
        </p:nvSpPr>
        <p:spPr>
          <a:xfrm>
            <a:off x="6072372" y="2067921"/>
            <a:ext cx="2955881" cy="740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02C516-8A6F-D1DA-2EBF-66CB0B5DA5CD}"/>
              </a:ext>
            </a:extLst>
          </p:cNvPr>
          <p:cNvSpPr txBox="1"/>
          <p:nvPr/>
        </p:nvSpPr>
        <p:spPr>
          <a:xfrm>
            <a:off x="6551271" y="1877667"/>
            <a:ext cx="2607193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Estimated Price: $4.02</a:t>
            </a:r>
          </a:p>
          <a:p>
            <a:r>
              <a:rPr lang="en-US" sz="1200" dirty="0"/>
              <a:t>(Short-term demand index @ 100)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EF352-E9AC-9C8E-9D3F-3EB4AF0E57B4}"/>
              </a:ext>
            </a:extLst>
          </p:cNvPr>
          <p:cNvSpPr txBox="1"/>
          <p:nvPr/>
        </p:nvSpPr>
        <p:spPr>
          <a:xfrm>
            <a:off x="3610582" y="3679969"/>
            <a:ext cx="49235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Corn Prices at Alternative Demand Scenarios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ECE31-F289-7E2C-478C-BB59F85E1D38}"/>
              </a:ext>
            </a:extLst>
          </p:cNvPr>
          <p:cNvSpPr txBox="1"/>
          <p:nvPr/>
        </p:nvSpPr>
        <p:spPr>
          <a:xfrm>
            <a:off x="3000769" y="4609849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Low Demand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49DD5-4918-6D80-1221-39915B190FE1}"/>
              </a:ext>
            </a:extLst>
          </p:cNvPr>
          <p:cNvSpPr txBox="1"/>
          <p:nvPr/>
        </p:nvSpPr>
        <p:spPr>
          <a:xfrm>
            <a:off x="3000769" y="4982884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Med. Demand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41262-CAF6-74C1-3249-5A04D0DE05E8}"/>
              </a:ext>
            </a:extLst>
          </p:cNvPr>
          <p:cNvSpPr txBox="1"/>
          <p:nvPr/>
        </p:nvSpPr>
        <p:spPr>
          <a:xfrm>
            <a:off x="3000769" y="5347346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High Demand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B3607-FE19-C061-C96A-678967DDC7B5}"/>
              </a:ext>
            </a:extLst>
          </p:cNvPr>
          <p:cNvSpPr txBox="1"/>
          <p:nvPr/>
        </p:nvSpPr>
        <p:spPr>
          <a:xfrm>
            <a:off x="4622161" y="4246137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Average Price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71098-9950-753D-6E56-B157A9714243}"/>
              </a:ext>
            </a:extLst>
          </p:cNvPr>
          <p:cNvSpPr txBox="1"/>
          <p:nvPr/>
        </p:nvSpPr>
        <p:spPr>
          <a:xfrm>
            <a:off x="6237821" y="4246565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Range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988A1-193A-18E6-7634-C026D0EA4D6D}"/>
              </a:ext>
            </a:extLst>
          </p:cNvPr>
          <p:cNvSpPr txBox="1"/>
          <p:nvPr/>
        </p:nvSpPr>
        <p:spPr>
          <a:xfrm>
            <a:off x="7859213" y="4246494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Probability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54C175-0344-6E12-25A3-9944788537DE}"/>
              </a:ext>
            </a:extLst>
          </p:cNvPr>
          <p:cNvSpPr txBox="1"/>
          <p:nvPr/>
        </p:nvSpPr>
        <p:spPr>
          <a:xfrm>
            <a:off x="4622161" y="4609227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$3.72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A309EF-8C99-9599-8D59-3B1F202151D8}"/>
              </a:ext>
            </a:extLst>
          </p:cNvPr>
          <p:cNvSpPr txBox="1"/>
          <p:nvPr/>
        </p:nvSpPr>
        <p:spPr>
          <a:xfrm>
            <a:off x="4622390" y="4978638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$4.18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E8FFE6-7026-C798-3F92-BA9B9A84545D}"/>
              </a:ext>
            </a:extLst>
          </p:cNvPr>
          <p:cNvSpPr txBox="1"/>
          <p:nvPr/>
        </p:nvSpPr>
        <p:spPr>
          <a:xfrm>
            <a:off x="4619295" y="5352216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$4.66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F8BBCD-9367-D5DF-9E48-5FDDB38C8280}"/>
              </a:ext>
            </a:extLst>
          </p:cNvPr>
          <p:cNvSpPr txBox="1"/>
          <p:nvPr/>
        </p:nvSpPr>
        <p:spPr>
          <a:xfrm>
            <a:off x="6242023" y="4613019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$3.41 - $3.86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EB4B11-1100-82EA-80E7-AB09D018ED98}"/>
              </a:ext>
            </a:extLst>
          </p:cNvPr>
          <p:cNvSpPr txBox="1"/>
          <p:nvPr/>
        </p:nvSpPr>
        <p:spPr>
          <a:xfrm>
            <a:off x="6242252" y="4982430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$3.96 - $4.32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A7A59C-7BCC-F70B-0D03-5ED3884B9DF8}"/>
              </a:ext>
            </a:extLst>
          </p:cNvPr>
          <p:cNvSpPr txBox="1"/>
          <p:nvPr/>
        </p:nvSpPr>
        <p:spPr>
          <a:xfrm>
            <a:off x="6239157" y="5356008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$4.35 - $5.09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6090ED-FF09-5B56-9837-B2D9BA82EB34}"/>
              </a:ext>
            </a:extLst>
          </p:cNvPr>
          <p:cNvSpPr txBox="1"/>
          <p:nvPr/>
        </p:nvSpPr>
        <p:spPr>
          <a:xfrm>
            <a:off x="7857814" y="4613019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41%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36BD4-433C-DBD9-FC73-8D53962E936E}"/>
              </a:ext>
            </a:extLst>
          </p:cNvPr>
          <p:cNvSpPr txBox="1"/>
          <p:nvPr/>
        </p:nvSpPr>
        <p:spPr>
          <a:xfrm>
            <a:off x="7858043" y="4982430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35%</a:t>
            </a:r>
            <a:endParaRPr 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6ED56A-521D-8C4F-585B-1066A2CC93DC}"/>
              </a:ext>
            </a:extLst>
          </p:cNvPr>
          <p:cNvSpPr txBox="1"/>
          <p:nvPr/>
        </p:nvSpPr>
        <p:spPr>
          <a:xfrm>
            <a:off x="7854948" y="5356008"/>
            <a:ext cx="16185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24%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068234-9611-86D9-3914-8787FEFCE5D5}"/>
              </a:ext>
            </a:extLst>
          </p:cNvPr>
          <p:cNvSpPr txBox="1"/>
          <p:nvPr/>
        </p:nvSpPr>
        <p:spPr>
          <a:xfrm>
            <a:off x="6543553" y="293619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 of Change</a:t>
            </a:r>
          </a:p>
        </p:txBody>
      </p:sp>
    </p:spTree>
    <p:extLst>
      <p:ext uri="{BB962C8B-B14F-4D97-AF65-F5344CB8AC3E}">
        <p14:creationId xmlns:p14="http://schemas.microsoft.com/office/powerpoint/2010/main" val="17679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7875-1FBF-7489-A408-C909A662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6388043-FA3C-754B-D63A-8CCC6247719D}"/>
              </a:ext>
            </a:extLst>
          </p:cNvPr>
          <p:cNvSpPr/>
          <p:nvPr/>
        </p:nvSpPr>
        <p:spPr>
          <a:xfrm>
            <a:off x="6254186" y="258410"/>
            <a:ext cx="2801074" cy="4745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89D782-9863-C1F6-152D-B3386C6983C0}"/>
              </a:ext>
            </a:extLst>
          </p:cNvPr>
          <p:cNvSpPr/>
          <p:nvPr/>
        </p:nvSpPr>
        <p:spPr>
          <a:xfrm>
            <a:off x="3294926" y="266217"/>
            <a:ext cx="2801074" cy="4745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E5C872-6BE0-FD24-7E61-28F18293AB15}"/>
              </a:ext>
            </a:extLst>
          </p:cNvPr>
          <p:cNvSpPr/>
          <p:nvPr/>
        </p:nvSpPr>
        <p:spPr>
          <a:xfrm>
            <a:off x="335666" y="266217"/>
            <a:ext cx="2801074" cy="4745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738665-DEBA-6D2B-082C-47296D236E7F}"/>
              </a:ext>
            </a:extLst>
          </p:cNvPr>
          <p:cNvSpPr/>
          <p:nvPr/>
        </p:nvSpPr>
        <p:spPr>
          <a:xfrm>
            <a:off x="57150" y="667381"/>
            <a:ext cx="12192000" cy="62213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33C0F-C014-EEE4-46B5-7EAA1C477A6A}"/>
              </a:ext>
            </a:extLst>
          </p:cNvPr>
          <p:cNvSpPr txBox="1"/>
          <p:nvPr/>
        </p:nvSpPr>
        <p:spPr>
          <a:xfrm>
            <a:off x="567159" y="266217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Corn Price Estimate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6428C4-7282-7625-2456-FB442EAF9AA6}"/>
              </a:ext>
            </a:extLst>
          </p:cNvPr>
          <p:cNvSpPr txBox="1"/>
          <p:nvPr/>
        </p:nvSpPr>
        <p:spPr>
          <a:xfrm>
            <a:off x="3526419" y="266217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Scenarios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B1D840-DED5-8AE6-BA6B-C4FDA1E736D4}"/>
              </a:ext>
            </a:extLst>
          </p:cNvPr>
          <p:cNvSpPr/>
          <p:nvPr/>
        </p:nvSpPr>
        <p:spPr>
          <a:xfrm>
            <a:off x="6072372" y="2067921"/>
            <a:ext cx="2955881" cy="740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F5573B-45F6-B416-F9EB-DAA2FCF8A513}"/>
              </a:ext>
            </a:extLst>
          </p:cNvPr>
          <p:cNvSpPr txBox="1"/>
          <p:nvPr/>
        </p:nvSpPr>
        <p:spPr>
          <a:xfrm>
            <a:off x="6543553" y="293619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 of Change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5B83A3-096B-7CC1-8512-77BCF5818D42}"/>
              </a:ext>
            </a:extLst>
          </p:cNvPr>
          <p:cNvSpPr txBox="1"/>
          <p:nvPr/>
        </p:nvSpPr>
        <p:spPr>
          <a:xfrm>
            <a:off x="658433" y="1875794"/>
            <a:ext cx="18702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2024 to 2025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ED103-10C1-C46A-1EDE-AF73A221D2FE}"/>
              </a:ext>
            </a:extLst>
          </p:cNvPr>
          <p:cNvSpPr txBox="1"/>
          <p:nvPr/>
        </p:nvSpPr>
        <p:spPr>
          <a:xfrm>
            <a:off x="7409006" y="1806838"/>
            <a:ext cx="18702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2E59B-5241-D2F5-06DD-6B24C52DD43B}"/>
              </a:ext>
            </a:extLst>
          </p:cNvPr>
          <p:cNvSpPr txBox="1"/>
          <p:nvPr/>
        </p:nvSpPr>
        <p:spPr>
          <a:xfrm>
            <a:off x="335666" y="2555584"/>
            <a:ext cx="25158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Higher Supplies: -$1.16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693F17-09E0-EB53-4DA0-7D5B459E9E1E}"/>
              </a:ext>
            </a:extLst>
          </p:cNvPr>
          <p:cNvSpPr txBox="1"/>
          <p:nvPr/>
        </p:nvSpPr>
        <p:spPr>
          <a:xfrm>
            <a:off x="335666" y="3141414"/>
            <a:ext cx="25158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Higher Demand: +0.32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6193121-1C06-3773-1C20-241F7F653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516236"/>
              </p:ext>
            </p:extLst>
          </p:nvPr>
        </p:nvGraphicFramePr>
        <p:xfrm>
          <a:off x="6024464" y="2653751"/>
          <a:ext cx="5075337" cy="3330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779">
                  <a:extLst>
                    <a:ext uri="{9D8B030D-6E8A-4147-A177-3AD203B41FA5}">
                      <a16:colId xmlns:a16="http://schemas.microsoft.com/office/drawing/2014/main" val="4098894741"/>
                    </a:ext>
                  </a:extLst>
                </a:gridCol>
                <a:gridCol w="1691779">
                  <a:extLst>
                    <a:ext uri="{9D8B030D-6E8A-4147-A177-3AD203B41FA5}">
                      <a16:colId xmlns:a16="http://schemas.microsoft.com/office/drawing/2014/main" val="94034994"/>
                    </a:ext>
                  </a:extLst>
                </a:gridCol>
                <a:gridCol w="1691779">
                  <a:extLst>
                    <a:ext uri="{9D8B030D-6E8A-4147-A177-3AD203B41FA5}">
                      <a16:colId xmlns:a16="http://schemas.microsoft.com/office/drawing/2014/main" val="2985007638"/>
                    </a:ext>
                  </a:extLst>
                </a:gridCol>
              </a:tblGrid>
              <a:tr h="4162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From 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From Demand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513906"/>
                  </a:ext>
                </a:extLst>
              </a:tr>
              <a:tr h="4162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June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-$X.XX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+$0.XX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130764"/>
                  </a:ext>
                </a:extLst>
              </a:tr>
              <a:tr h="416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-$X.XX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+$0.XX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51617"/>
                  </a:ext>
                </a:extLst>
              </a:tr>
              <a:tr h="416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-$X.XX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+$0.XX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432293"/>
                  </a:ext>
                </a:extLst>
              </a:tr>
              <a:tr h="416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-$X.XX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+$0.XX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393915"/>
                  </a:ext>
                </a:extLst>
              </a:tr>
              <a:tr h="416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-$X.XX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+$0.XX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29844"/>
                  </a:ext>
                </a:extLst>
              </a:tr>
              <a:tr h="416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Nov.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-$X.XX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+$0.XX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685578"/>
                  </a:ext>
                </a:extLst>
              </a:tr>
              <a:tr h="416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-$X.XX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+$0.XX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105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56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3CF60D-4659-3408-1792-213C019B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Details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57A0E9-D821-636B-8C28-19A770871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31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8A41-9BC0-FCFB-5723-CB1BFEA2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Better Insights, A Better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9AC31-B2EA-F60C-977B-8378B7CA8A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/>
              <a:t>Ending Stocks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A77B4-778C-777F-53BE-A527D26B56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Corn Demand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A7F73-296A-0EE1-D9FB-A0B94DEC2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735" y="4001294"/>
            <a:ext cx="4597400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FD189E-DA16-F59F-0DFE-DCC9978CE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227" y="2520157"/>
            <a:ext cx="2818606" cy="134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3FB5AF-8C6F-0475-C8D1-C941F58F1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287" y="2359979"/>
            <a:ext cx="3009426" cy="251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15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5525</TotalTime>
  <Words>393</Words>
  <Application>Microsoft Macintosh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Corn Demand Index:  Charts and Insights</vt:lpstr>
      <vt:lpstr>Short Term Corn Demand</vt:lpstr>
      <vt:lpstr>Long Term Corn Demand</vt:lpstr>
      <vt:lpstr>Corn Market Tightness Index</vt:lpstr>
      <vt:lpstr>Sketch of web tool</vt:lpstr>
      <vt:lpstr>PowerPoint Presentation</vt:lpstr>
      <vt:lpstr>PowerPoint Presentation</vt:lpstr>
      <vt:lpstr>PowerPoint Presentation</vt:lpstr>
      <vt:lpstr>Research Details</vt:lpstr>
      <vt:lpstr>Better Insights, A Better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Widmar</dc:creator>
  <cp:lastModifiedBy>David Widmar</cp:lastModifiedBy>
  <cp:revision>13</cp:revision>
  <dcterms:created xsi:type="dcterms:W3CDTF">2026-02-02T15:25:09Z</dcterms:created>
  <dcterms:modified xsi:type="dcterms:W3CDTF">2026-02-25T05:49:44Z</dcterms:modified>
</cp:coreProperties>
</file>