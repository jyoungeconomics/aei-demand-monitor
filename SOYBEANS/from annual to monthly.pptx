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AF40-633D-5BFA-BC0C-B35549F3F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E35A4-C8EB-6C6C-2885-82A9C23A0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70D45-9F2C-F13F-CB5E-BECBFF89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45A90-3F9A-2693-17AC-BE3CD99C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722B-A786-EA26-DE5E-A3F704BF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83A3-099B-F1A5-E698-99E63077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35B4-0E47-191D-8CE2-502D5542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07B06-15C7-A51E-361A-8F4A40C7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0A63-376E-6D0B-8326-FAA58E6E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60B82-63EA-DCE7-9063-78CFA58E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4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FE80-DCCF-60C6-7CE8-A7B9672E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1F228-363F-4F26-506B-9CAEC103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C61B-8890-760A-1910-6C43DAF9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3B906-205B-C36A-9753-588A948D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44B9-942A-28F8-DFEA-F8415105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6DF6-8E31-939F-DA84-0983FA33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95A8-765C-BCC5-5876-A4026FD49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8F7A5-7215-27AB-725B-DE8FF5859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D8B96-4B01-F6EE-D5BA-733D2B4A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C7C8-0023-F3D2-86D9-D9A8B23D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B63C9-723D-E93C-0267-32E82D22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9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5F79-A883-023E-3F52-8759F099B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4F3F9-1812-9038-BBB3-33EE2265A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512C1-7ADA-F9A2-0013-7EB5E5218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9CD37-D540-BD76-0762-4F5694B52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9AE0B-40BB-58A2-E118-0D8C1B795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359A6-9BDC-3FB3-7B29-F4113C7B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4265DC-C686-6299-30D7-BD1EDE3E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03D32-451A-F0D3-18E3-E70A61B5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9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DBFA-ADF4-4839-986D-281A942C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06D84-1020-EEF3-BD3A-819AA414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43C74-1AD3-6973-D6D7-CF4B5A47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46BCC-3640-219B-993F-0DB0F7BE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6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6ED67-4DCE-12BE-5F76-EDBC3DED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12A07-6068-0374-3614-AE4E9B45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3C693-E54A-C4C2-E9F0-741A1C16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4AAC-F773-565A-991A-5A9DECCD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3DEB-70D4-D0BB-B5C8-64B7E04DA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0E7EE-E10F-60D5-DB9C-2D4CC64BD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CB800-1578-1A69-2429-F250411B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07DE3-DF4D-72EA-7060-AD2A92F3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CCC12-BFC7-4D6B-8505-9C1E3897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C75B-D056-8433-7910-20163D0B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A254C-55CA-A3E6-1A76-B167325CD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EFE9C-EFDB-CDF1-C952-4061B9527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22DE4-6286-CCD2-F726-9CF99E0B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11B2A-7E5E-1BBF-FFB8-B207ED02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15DEC-3AAF-A571-02AA-96B5A428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8BB6-A77D-D90F-BCE7-91A7EB11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AEA88-8D14-3B96-7661-FFA88C676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A75C-1DD6-9898-678E-DF897D54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5148-0261-26DC-06F3-23A9EF94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6618-B249-8C1B-D3D3-1A5C7CCE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2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CBB9E-075A-B7B9-9BF0-108292B14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6B1F8-9E7C-C055-46F5-5CD38736D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89D65-ECBD-D8AF-359D-55F6C5FF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B30F-BA67-AF6F-AE53-D194E731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94DDE-906E-7320-64E1-62E2B9ED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5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BF427-9338-0DB2-B4A5-B128A71A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08EC-9EEB-1052-B267-3EE63359A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5437-88DD-35E9-D06B-84D7C13DF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4F586-84C9-47D9-87B3-D5AE520F236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5DBA8-21F8-C45A-7BDD-670D63CD3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7D368-782F-8CD8-86FF-0D764C76C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DDE54-0F3A-4645-BD7D-EB9D8A60C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7BD2-27D6-2506-3BA6-F42B8D94C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plan for moving demand effort from annual to monthly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1B048-B57A-F63F-9FDD-0956380B3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10D2-28B5-B806-F3CF-03DD428B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 are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111B8-3638-D867-0BB3-D486BC5D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annual, but for variables that “split” within the year (e.g. MYA price vs. monthly avg price) may need to re-measure or re-define</a:t>
            </a:r>
          </a:p>
          <a:p>
            <a:r>
              <a:rPr lang="en-US" dirty="0"/>
              <a:t>Monthly dummy variables to capture seasonality</a:t>
            </a:r>
          </a:p>
          <a:p>
            <a:pPr lvl="1"/>
            <a:r>
              <a:rPr lang="en-US" dirty="0"/>
              <a:t>Month-by-month regressions vs fixed effects</a:t>
            </a:r>
          </a:p>
          <a:p>
            <a:pPr lvl="2"/>
            <a:r>
              <a:rPr lang="en-US" dirty="0"/>
              <a:t>Stronger, gives unique monthly coefficients, but assumptions are stronger and may not be realistic enough to justify</a:t>
            </a:r>
          </a:p>
          <a:p>
            <a:pPr lvl="2"/>
            <a:r>
              <a:rPr lang="en-US" dirty="0"/>
              <a:t>FE just shifts the intercept in and out, leaves slopes &amp; elasticities alone</a:t>
            </a:r>
          </a:p>
          <a:p>
            <a:r>
              <a:rPr lang="en-US" dirty="0"/>
              <a:t>Are there monthly-varying variables we assumed away in the annual model but now need?</a:t>
            </a:r>
          </a:p>
        </p:txBody>
      </p:sp>
    </p:spTree>
    <p:extLst>
      <p:ext uri="{BB962C8B-B14F-4D97-AF65-F5344CB8AC3E}">
        <p14:creationId xmlns:p14="http://schemas.microsoft.com/office/powerpoint/2010/main" val="98992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E030-EF5A-4CEA-B8B9-2A2FAB25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sort of demand forecast is possible 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4E12-7F9E-AEA6-879E-0CC0332FF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month could have its own predictions</a:t>
            </a:r>
          </a:p>
          <a:p>
            <a:pPr lvl="1"/>
            <a:r>
              <a:rPr lang="en-US" dirty="0"/>
              <a:t>A new calculated “A” term every month?</a:t>
            </a:r>
          </a:p>
          <a:p>
            <a:r>
              <a:rPr lang="en-US" dirty="0"/>
              <a:t>Lags are now an option</a:t>
            </a:r>
          </a:p>
          <a:p>
            <a:pPr lvl="1"/>
            <a:r>
              <a:rPr lang="en-US" dirty="0"/>
              <a:t>Forecast June’s price in January by including 6 months’ worth of lags on RHS of regression</a:t>
            </a:r>
          </a:p>
          <a:p>
            <a:pPr lvl="2"/>
            <a:r>
              <a:rPr lang="en-US" dirty="0"/>
              <a:t>Can get long-run effects, all kinds of fun stuff</a:t>
            </a:r>
          </a:p>
          <a:p>
            <a:pPr lvl="2"/>
            <a:r>
              <a:rPr lang="en-US" dirty="0"/>
              <a:t>Vary an exogenous usage shock from last month to 6 months ago, not always assuming it’s happening now in this month</a:t>
            </a:r>
          </a:p>
          <a:p>
            <a:r>
              <a:rPr lang="en-US" dirty="0"/>
              <a:t>Moving averages would help soak up slow blips like ethanol boom</a:t>
            </a:r>
          </a:p>
        </p:txBody>
      </p:sp>
    </p:spTree>
    <p:extLst>
      <p:ext uri="{BB962C8B-B14F-4D97-AF65-F5344CB8AC3E}">
        <p14:creationId xmlns:p14="http://schemas.microsoft.com/office/powerpoint/2010/main" val="213576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B067-5E92-9AA1-FC3D-C7F8CB1B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still make sense to forecast MYA prices?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F2BB-9B90-149E-C3DA-A8CFCE99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Probably?</a:t>
            </a:r>
          </a:p>
          <a:p>
            <a:r>
              <a:rPr lang="en-US" dirty="0"/>
              <a:t>WASDE has monthly avg price, might look to that if there’s any meaning to it</a:t>
            </a:r>
          </a:p>
          <a:p>
            <a:pPr lvl="1"/>
            <a:r>
              <a:rPr lang="en-US" dirty="0"/>
              <a:t>Spot pricing data? Regional variation? Basis?</a:t>
            </a:r>
          </a:p>
          <a:p>
            <a:pPr lvl="2"/>
            <a:r>
              <a:rPr lang="en-US" dirty="0"/>
              <a:t>Now back to that railroad &amp; barge idea…</a:t>
            </a:r>
          </a:p>
        </p:txBody>
      </p:sp>
    </p:spTree>
    <p:extLst>
      <p:ext uri="{BB962C8B-B14F-4D97-AF65-F5344CB8AC3E}">
        <p14:creationId xmlns:p14="http://schemas.microsoft.com/office/powerpoint/2010/main" val="189245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B1E2-5343-4D36-1785-750E82CF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futures market off-ramp here?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BF67-F3FB-4B19-C72E-F4D77E9FB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but we’re venturing into Black-Scholes-Merton territory again with volatility</a:t>
            </a:r>
          </a:p>
          <a:p>
            <a:r>
              <a:rPr lang="en-US" dirty="0"/>
              <a:t>Settle price? Open? Change?</a:t>
            </a:r>
          </a:p>
          <a:p>
            <a:r>
              <a:rPr lang="en-US" dirty="0"/>
              <a:t>Which contract(s)?</a:t>
            </a:r>
          </a:p>
          <a:p>
            <a:r>
              <a:rPr lang="en-US" dirty="0"/>
              <a:t>Does the IV probability piece enter this picture or are we solely interested in </a:t>
            </a:r>
            <a:r>
              <a:rPr lang="en-US"/>
              <a:t>prediction points?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3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Sketch plan for moving demand effort from annual to monthly</vt:lpstr>
      <vt:lpstr>What data are needed?</vt:lpstr>
      <vt:lpstr>What sort of demand forecast is possible ?</vt:lpstr>
      <vt:lpstr>Does it still make sense to forecast MYA prices? </vt:lpstr>
      <vt:lpstr>Is there a futures market off-ramp here? </vt:lpstr>
    </vt:vector>
  </TitlesOfParts>
  <Company>Murray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Young</dc:creator>
  <cp:lastModifiedBy>Jeffrey Young</cp:lastModifiedBy>
  <cp:revision>6</cp:revision>
  <dcterms:created xsi:type="dcterms:W3CDTF">2026-03-02T20:41:40Z</dcterms:created>
  <dcterms:modified xsi:type="dcterms:W3CDTF">2026-03-02T20:52:32Z</dcterms:modified>
</cp:coreProperties>
</file>